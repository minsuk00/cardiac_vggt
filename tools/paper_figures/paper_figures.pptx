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470129" cy="2989834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reference_conditioning: rendered by _paper_figures/render_motion_edes.py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runtime_vtc_af_hrv: rendered by _paper_figures/render_vtc_2x2.py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ablation_motion: rendered by _paper_figures/render_ablation_motion.py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real_rt: rendered by _paper_figures/make_rt_figure.py (see _paper_figures/README.md). Text = native text boxes; each panel = its own PNG layer.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image" Target="../media/image17.png"/><Relationship Id="rId4" Type="http://schemas.openxmlformats.org/officeDocument/2006/relationships/image" Target="../media/image18.png"/><Relationship Id="rId5" Type="http://schemas.openxmlformats.org/officeDocument/2006/relationships/image" Target="../media/image19.png"/><Relationship Id="rId6" Type="http://schemas.openxmlformats.org/officeDocument/2006/relationships/image" Target="../media/image20.png"/><Relationship Id="rId7" Type="http://schemas.openxmlformats.org/officeDocument/2006/relationships/image" Target="../media/image21.png"/><Relationship Id="rId8" Type="http://schemas.openxmlformats.org/officeDocument/2006/relationships/image" Target="../media/image22.png"/><Relationship Id="rId9" Type="http://schemas.openxmlformats.org/officeDocument/2006/relationships/image" Target="../media/image23.png"/><Relationship Id="rId10" Type="http://schemas.openxmlformats.org/officeDocument/2006/relationships/image" Target="../media/image24.png"/><Relationship Id="rId11" Type="http://schemas.openxmlformats.org/officeDocument/2006/relationships/image" Target="../media/image25.png"/><Relationship Id="rId12" Type="http://schemas.openxmlformats.org/officeDocument/2006/relationships/image" Target="../media/image26.png"/><Relationship Id="rId13" Type="http://schemas.openxmlformats.org/officeDocument/2006/relationships/image" Target="../media/image27.png"/><Relationship Id="rId14" Type="http://schemas.openxmlformats.org/officeDocument/2006/relationships/image" Target="../media/image28.png"/><Relationship Id="rId15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Relationship Id="rId3" Type="http://schemas.openxmlformats.org/officeDocument/2006/relationships/image" Target="../media/image30.png"/><Relationship Id="rId4" Type="http://schemas.openxmlformats.org/officeDocument/2006/relationships/image" Target="../media/image31.png"/><Relationship Id="rId5" Type="http://schemas.openxmlformats.org/officeDocument/2006/relationships/image" Target="../media/image32.png"/><Relationship Id="rId6" Type="http://schemas.openxmlformats.org/officeDocument/2006/relationships/image" Target="../media/image33.png"/><Relationship Id="rId7" Type="http://schemas.openxmlformats.org/officeDocument/2006/relationships/image" Target="../media/image34.png"/><Relationship Id="rId8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ference_conditioning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4236" y="336804"/>
            <a:ext cx="790956" cy="790956"/>
          </a:xfrm>
          <a:prstGeom prst="rect">
            <a:avLst/>
          </a:prstGeom>
        </p:spPr>
      </p:pic>
      <p:pic>
        <p:nvPicPr>
          <p:cNvPr id="3" name="Picture 2" descr="reference_conditioning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62812" y="336804"/>
            <a:ext cx="790956" cy="790956"/>
          </a:xfrm>
          <a:prstGeom prst="rect">
            <a:avLst/>
          </a:prstGeom>
        </p:spPr>
      </p:pic>
      <p:pic>
        <p:nvPicPr>
          <p:cNvPr id="4" name="Picture 3" descr="reference_conditioning_ax1_inset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697736" y="870204"/>
            <a:ext cx="251460" cy="251460"/>
          </a:xfrm>
          <a:prstGeom prst="rect">
            <a:avLst/>
          </a:prstGeom>
        </p:spPr>
      </p:pic>
      <p:pic>
        <p:nvPicPr>
          <p:cNvPr id="5" name="Picture 4" descr="reference_conditioning_ax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961388" y="336804"/>
            <a:ext cx="790956" cy="790956"/>
          </a:xfrm>
          <a:prstGeom prst="rect">
            <a:avLst/>
          </a:prstGeom>
        </p:spPr>
      </p:pic>
      <p:pic>
        <p:nvPicPr>
          <p:cNvPr id="6" name="Picture 5" descr="reference_conditioning_ax2_inset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496312" y="870204"/>
            <a:ext cx="251460" cy="251460"/>
          </a:xfrm>
          <a:prstGeom prst="rect">
            <a:avLst/>
          </a:prstGeom>
        </p:spPr>
      </p:pic>
      <p:pic>
        <p:nvPicPr>
          <p:cNvPr id="7" name="Picture 6" descr="reference_conditioning_ax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64236" y="1185672"/>
            <a:ext cx="790956" cy="790956"/>
          </a:xfrm>
          <a:prstGeom prst="rect">
            <a:avLst/>
          </a:prstGeom>
        </p:spPr>
      </p:pic>
      <p:pic>
        <p:nvPicPr>
          <p:cNvPr id="8" name="Picture 7" descr="reference_conditioning_ax4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162812" y="1185672"/>
            <a:ext cx="790956" cy="790956"/>
          </a:xfrm>
          <a:prstGeom prst="rect">
            <a:avLst/>
          </a:prstGeom>
        </p:spPr>
      </p:pic>
      <p:pic>
        <p:nvPicPr>
          <p:cNvPr id="9" name="Picture 8" descr="reference_conditioning_ax4_inset0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697736" y="1720596"/>
            <a:ext cx="251460" cy="251460"/>
          </a:xfrm>
          <a:prstGeom prst="rect">
            <a:avLst/>
          </a:prstGeom>
        </p:spPr>
      </p:pic>
      <p:pic>
        <p:nvPicPr>
          <p:cNvPr id="10" name="Picture 9" descr="reference_conditioning_ax5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961388" y="1185672"/>
            <a:ext cx="790956" cy="790956"/>
          </a:xfrm>
          <a:prstGeom prst="rect">
            <a:avLst/>
          </a:prstGeom>
        </p:spPr>
      </p:pic>
      <p:pic>
        <p:nvPicPr>
          <p:cNvPr id="11" name="Picture 10" descr="reference_conditioning_ax5_inset0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496312" y="1720596"/>
            <a:ext cx="251460" cy="2514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 rot="16200000">
            <a:off x="204704" y="668295"/>
            <a:ext cx="153820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AF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1908" y="222678"/>
            <a:ext cx="21613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Input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361686" y="222678"/>
            <a:ext cx="39412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ED target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162943" y="222678"/>
            <a:ext cx="389167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700" b="0" i="0">
                <a:solidFill>
                  <a:srgbClr val="000000"/>
                </a:solidFill>
                <a:latin typeface="Arial"/>
              </a:rPr>
              <a:t>ES target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165909" y="1518070"/>
            <a:ext cx="231409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1" i="0">
                <a:solidFill>
                  <a:srgbClr val="000000"/>
                </a:solidFill>
                <a:latin typeface="Arial"/>
              </a:rPr>
              <a:t>HRV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untime_vtc_af_hrv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7992" y="627888"/>
            <a:ext cx="1594104" cy="1101852"/>
          </a:xfrm>
          <a:prstGeom prst="rect">
            <a:avLst/>
          </a:prstGeom>
        </p:spPr>
      </p:pic>
      <p:pic>
        <p:nvPicPr>
          <p:cNvPr id="3" name="Picture 2" descr="runtime_vtc_af_hrv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50464" y="627888"/>
            <a:ext cx="1594104" cy="1101852"/>
          </a:xfrm>
          <a:prstGeom prst="rect">
            <a:avLst/>
          </a:prstGeom>
        </p:spPr>
      </p:pic>
      <p:pic>
        <p:nvPicPr>
          <p:cNvPr id="4" name="Picture 3" descr="runtime_vtc_af_hrv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68468" y="627888"/>
            <a:ext cx="1595628" cy="1101852"/>
          </a:xfrm>
          <a:prstGeom prst="rect">
            <a:avLst/>
          </a:prstGeom>
        </p:spPr>
      </p:pic>
      <p:pic>
        <p:nvPicPr>
          <p:cNvPr id="5" name="Picture 4" descr="runtime_vtc_af_hrv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20940" y="627888"/>
            <a:ext cx="1595628" cy="1101852"/>
          </a:xfrm>
          <a:prstGeom prst="rect">
            <a:avLst/>
          </a:prstGeom>
        </p:spPr>
      </p:pic>
      <p:pic>
        <p:nvPicPr>
          <p:cNvPr id="6" name="Picture 5" descr="runtime_vtc_af_hrv_figure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72084" y="330708"/>
            <a:ext cx="7580375" cy="914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4589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80846" y="1731397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5681" y="173139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70516" y="173139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65350" y="1731397"/>
            <a:ext cx="37468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4335" y="1921461"/>
            <a:ext cx="96165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Runtime (s)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6298" y="1583363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1162601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741839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20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-135635" y="1043996"/>
            <a:ext cx="907288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VTC err. </a:t>
            </a:r>
            <a:r>
              <a:rPr sz="1440" b="0" i="0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22726" y="732725"/>
            <a:ext cx="70924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Arial"/>
              </a:rPr>
              <a:t>Dangi et al.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59703" y="1153385"/>
            <a:ext cx="6024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80" b="0" i="0">
                <a:solidFill>
                  <a:srgbClr val="1A1A1A"/>
                </a:solidFill>
                <a:latin typeface="Arial"/>
              </a:rPr>
              <a:t>CiNeVol</a:t>
            </a:r>
            <a:r>
              <a:rPr sz="1080" b="0" i="0" baseline="30000">
                <a:solidFill>
                  <a:srgbClr val="1A1A1A"/>
                </a:solidFill>
                <a:latin typeface="Arial"/>
              </a:rPr>
              <a:t>†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22627" y="1277904"/>
            <a:ext cx="33697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80" b="1" i="0">
                <a:solidFill>
                  <a:srgbClr val="1A1A1A"/>
                </a:solidFill>
                <a:latin typeface="Arial"/>
              </a:rPr>
              <a:t>Ours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874548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183580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492612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801645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110677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9709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2987423" y="1921461"/>
            <a:ext cx="156054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2709730" y="1472362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620631" y="988913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29" name="TextBox 28"/>
          <p:cNvSpPr txBox="1"/>
          <p:nvPr/>
        </p:nvSpPr>
        <p:spPr>
          <a:xfrm rot="16200000">
            <a:off x="1835708" y="1043996"/>
            <a:ext cx="129265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486260" y="2164553"/>
            <a:ext cx="1926066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(a) Atrial fibrillation (AF)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246132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652389" y="1731397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7224" y="173139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242059" y="1731397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536893" y="1731397"/>
            <a:ext cx="374681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1000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605878" y="1921461"/>
            <a:ext cx="961659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Runtime (s)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117841" y="1583363"/>
            <a:ext cx="107386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8742" y="1162601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8742" y="741839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20</a:t>
            </a:r>
          </a:p>
        </p:txBody>
      </p:sp>
      <p:sp>
        <p:nvSpPr>
          <p:cNvPr id="40" name="TextBox 39"/>
          <p:cNvSpPr txBox="1"/>
          <p:nvPr/>
        </p:nvSpPr>
        <p:spPr>
          <a:xfrm rot="16200000">
            <a:off x="4435906" y="1043996"/>
            <a:ext cx="907288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VTC err. </a:t>
            </a:r>
            <a:r>
              <a:rPr sz="1440" b="0" i="0">
                <a:solidFill>
                  <a:srgbClr val="000000"/>
                </a:solidFill>
                <a:latin typeface="Arial"/>
              </a:rPr>
              <a:t>↓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494269" y="851160"/>
            <a:ext cx="709247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080" b="0" i="0">
                <a:solidFill>
                  <a:srgbClr val="1A1A1A"/>
                </a:solidFill>
                <a:latin typeface="Arial"/>
              </a:rPr>
              <a:t>Dangi et al.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031245" y="1453625"/>
            <a:ext cx="60248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80" b="0" i="0">
                <a:solidFill>
                  <a:srgbClr val="1A1A1A"/>
                </a:solidFill>
                <a:latin typeface="Arial"/>
              </a:rPr>
              <a:t>CiNeVol</a:t>
            </a:r>
            <a:r>
              <a:rPr sz="1080" b="0" i="0" baseline="30000">
                <a:solidFill>
                  <a:srgbClr val="1A1A1A"/>
                </a:solidFill>
                <a:latin typeface="Arial"/>
              </a:rPr>
              <a:t>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636780" y="1442356"/>
            <a:ext cx="336978" cy="17145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080" b="1" i="0">
                <a:solidFill>
                  <a:srgbClr val="1A1A1A"/>
                </a:solidFill>
                <a:latin typeface="Arial"/>
              </a:rPr>
              <a:t>Ours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446091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755123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0.2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064155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0.4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373188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0.6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682220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0.8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991252" y="1731397"/>
            <a:ext cx="24113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260" b="0" i="0">
                <a:solidFill>
                  <a:srgbClr val="1A1A1A"/>
                </a:solidFill>
                <a:latin typeface="Arial"/>
              </a:rPr>
              <a:t>1.0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58966" y="1921461"/>
            <a:ext cx="1560544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281272" y="1463497"/>
            <a:ext cx="196484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192174" y="984603"/>
            <a:ext cx="285583" cy="2000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126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53" name="TextBox 52"/>
          <p:cNvSpPr txBox="1"/>
          <p:nvPr/>
        </p:nvSpPr>
        <p:spPr>
          <a:xfrm rot="16200000">
            <a:off x="6407251" y="1043996"/>
            <a:ext cx="1292653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785745" y="2164553"/>
            <a:ext cx="2470181" cy="2286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1440" b="0" i="0">
                <a:solidFill>
                  <a:srgbClr val="000000"/>
                </a:solidFill>
                <a:latin typeface="Arial"/>
              </a:rPr>
              <a:t>(b) Heart rate variability (HRV)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6609" y="279773"/>
            <a:ext cx="225456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GT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679548" y="279773"/>
            <a:ext cx="366545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1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473575" y="279773"/>
            <a:ext cx="66598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CiNeVol</a:t>
            </a:r>
            <a:r>
              <a:rPr sz="1170" b="0" i="0" baseline="30000">
                <a:solidFill>
                  <a:srgbClr val="000000"/>
                </a:solidFill>
                <a:latin typeface="Arial"/>
              </a:rPr>
              <a:t>†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3567045" y="279773"/>
            <a:ext cx="105968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Fetal CMR 4D</a:t>
            </a:r>
            <a:r>
              <a:rPr sz="1170" b="0" i="0" baseline="30000">
                <a:solidFill>
                  <a:srgbClr val="000000"/>
                </a:solidFill>
                <a:latin typeface="Arial"/>
              </a:rPr>
              <a:t>†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5054215" y="279773"/>
            <a:ext cx="772945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Dangi et al.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6254643" y="279773"/>
            <a:ext cx="590978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NeSVoR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7273104" y="279773"/>
            <a:ext cx="590184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NiftyMIC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8290771" y="279773"/>
            <a:ext cx="512794" cy="18573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1170" b="0" i="0">
                <a:solidFill>
                  <a:srgbClr val="000000"/>
                </a:solidFill>
                <a:latin typeface="Arial"/>
              </a:rPr>
              <a:t>SVRTK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ablation_motion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3440" y="356616"/>
            <a:ext cx="1167384" cy="525780"/>
          </a:xfrm>
          <a:prstGeom prst="rect">
            <a:avLst/>
          </a:prstGeom>
        </p:spPr>
      </p:pic>
      <p:pic>
        <p:nvPicPr>
          <p:cNvPr id="3" name="Picture 2" descr="ablation_motion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28444" y="356616"/>
            <a:ext cx="1167384" cy="525780"/>
          </a:xfrm>
          <a:prstGeom prst="rect">
            <a:avLst/>
          </a:prstGeom>
        </p:spPr>
      </p:pic>
      <p:pic>
        <p:nvPicPr>
          <p:cNvPr id="4" name="Picture 3" descr="ablation_motion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203448" y="356616"/>
            <a:ext cx="1165860" cy="525780"/>
          </a:xfrm>
          <a:prstGeom prst="rect">
            <a:avLst/>
          </a:prstGeom>
        </p:spPr>
      </p:pic>
      <p:pic>
        <p:nvPicPr>
          <p:cNvPr id="5" name="Picture 4" descr="ablation_motion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376928" y="356616"/>
            <a:ext cx="1167384" cy="525780"/>
          </a:xfrm>
          <a:prstGeom prst="rect">
            <a:avLst/>
          </a:prstGeom>
        </p:spPr>
      </p:pic>
      <p:pic>
        <p:nvPicPr>
          <p:cNvPr id="6" name="Picture 5" descr="ablation_motion_ax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97636" y="1021080"/>
            <a:ext cx="1120140" cy="862584"/>
          </a:xfrm>
          <a:prstGeom prst="rect">
            <a:avLst/>
          </a:prstGeom>
        </p:spPr>
      </p:pic>
      <p:pic>
        <p:nvPicPr>
          <p:cNvPr id="7" name="Picture 6" descr="ablation_motion_ax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072640" y="1021080"/>
            <a:ext cx="1118616" cy="862584"/>
          </a:xfrm>
          <a:prstGeom prst="rect">
            <a:avLst/>
          </a:prstGeom>
        </p:spPr>
      </p:pic>
      <p:pic>
        <p:nvPicPr>
          <p:cNvPr id="8" name="Picture 7" descr="ablation_motion_ax6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47644" y="1021080"/>
            <a:ext cx="1118616" cy="862584"/>
          </a:xfrm>
          <a:prstGeom prst="rect">
            <a:avLst/>
          </a:prstGeom>
        </p:spPr>
      </p:pic>
      <p:pic>
        <p:nvPicPr>
          <p:cNvPr id="9" name="Picture 8" descr="ablation_motion_ax7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421124" y="1021080"/>
            <a:ext cx="1120140" cy="862584"/>
          </a:xfrm>
          <a:prstGeom prst="rect">
            <a:avLst/>
          </a:prstGeom>
        </p:spPr>
      </p:pic>
      <p:pic>
        <p:nvPicPr>
          <p:cNvPr id="10" name="Picture 9" descr="ablation_motion_ax8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3440" y="1891284"/>
            <a:ext cx="1167384" cy="566928"/>
          </a:xfrm>
          <a:prstGeom prst="rect">
            <a:avLst/>
          </a:prstGeom>
        </p:spPr>
      </p:pic>
      <p:pic>
        <p:nvPicPr>
          <p:cNvPr id="11" name="Picture 10" descr="ablation_motion_ax9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028444" y="1891284"/>
            <a:ext cx="1167384" cy="566928"/>
          </a:xfrm>
          <a:prstGeom prst="rect">
            <a:avLst/>
          </a:prstGeom>
        </p:spPr>
      </p:pic>
      <p:pic>
        <p:nvPicPr>
          <p:cNvPr id="12" name="Picture 11" descr="ablation_motion_ax10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203448" y="1891284"/>
            <a:ext cx="1165860" cy="566928"/>
          </a:xfrm>
          <a:prstGeom prst="rect">
            <a:avLst/>
          </a:prstGeom>
        </p:spPr>
      </p:pic>
      <p:pic>
        <p:nvPicPr>
          <p:cNvPr id="13" name="Picture 12" descr="ablation_motion_ax11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76928" y="1891284"/>
            <a:ext cx="1167384" cy="566928"/>
          </a:xfrm>
          <a:prstGeom prst="rect">
            <a:avLst/>
          </a:prstGeom>
        </p:spPr>
      </p:pic>
      <p:pic>
        <p:nvPicPr>
          <p:cNvPr id="14" name="Picture 13" descr="ablation_motion_figure.png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2121408" y="2601468"/>
            <a:ext cx="1106424" cy="60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92956" y="884326"/>
            <a:ext cx="72948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slice (apex</a:t>
            </a:r>
            <a:r>
              <a:rPr sz="650" b="0" i="0">
                <a:solidFill>
                  <a:srgbClr val="000000"/>
                </a:solidFill>
                <a:latin typeface="Arial"/>
              </a:rPr>
              <a:t>→</a:t>
            </a:r>
            <a:r>
              <a:rPr sz="650" b="0" i="0">
                <a:solidFill>
                  <a:srgbClr val="000000"/>
                </a:solidFill>
                <a:latin typeface="Arial"/>
              </a:rPr>
              <a:t>base)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2354" y="797765"/>
            <a:ext cx="6769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2354" y="560444"/>
            <a:ext cx="67698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5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92943" y="323122"/>
            <a:ext cx="117109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10</a:t>
            </a:r>
          </a:p>
        </p:txBody>
      </p:sp>
      <p:sp>
        <p:nvSpPr>
          <p:cNvPr id="19" name="TextBox 18"/>
          <p:cNvSpPr txBox="1"/>
          <p:nvPr/>
        </p:nvSpPr>
        <p:spPr>
          <a:xfrm rot="16200000">
            <a:off x="169580" y="556082"/>
            <a:ext cx="76381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Resp. shift (mm)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43653" y="363007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0.6 mm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296156" y="221487"/>
            <a:ext cx="3230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</a:t>
            </a:r>
            <a:r>
              <a:rPr sz="800" b="0" i="0">
                <a:solidFill>
                  <a:srgbClr val="000000"/>
                </a:solidFill>
                <a:latin typeface="Cambria Math"/>
              </a:rPr>
              <a:t>ℒ</a:t>
            </a:r>
            <a:r>
              <a:rPr sz="800" b="0" i="0" baseline="-25000">
                <a:solidFill>
                  <a:srgbClr val="000000"/>
                </a:solidFill>
                <a:latin typeface="Arial"/>
              </a:rPr>
              <a:t>h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118169" y="363007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2.4 mm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438921" y="221487"/>
            <a:ext cx="3865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</a:t>
            </a:r>
            <a:r>
              <a:rPr sz="800" b="0" i="0">
                <a:solidFill>
                  <a:srgbClr val="000000"/>
                </a:solidFill>
                <a:latin typeface="Cambria Math"/>
              </a:rPr>
              <a:t>ℒ</a:t>
            </a:r>
            <a:r>
              <a:rPr sz="800" b="0" i="0" baseline="-25000">
                <a:solidFill>
                  <a:srgbClr val="000000"/>
                </a:solidFill>
                <a:latin typeface="Arial"/>
              </a:rPr>
              <a:t>obs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292685" y="363007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0.8 mm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562637" y="221487"/>
            <a:ext cx="48818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w/o </a:t>
            </a:r>
            <a:r>
              <a:rPr sz="800" b="0" i="0">
                <a:solidFill>
                  <a:srgbClr val="000000"/>
                </a:solidFill>
                <a:latin typeface="Cambria Math"/>
              </a:rPr>
              <a:t>ℒ</a:t>
            </a:r>
            <a:r>
              <a:rPr sz="800" b="0" i="0" baseline="-25000">
                <a:solidFill>
                  <a:srgbClr val="000000"/>
                </a:solidFill>
                <a:latin typeface="Arial"/>
              </a:rPr>
              <a:t>smooth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467200" y="363007"/>
            <a:ext cx="4822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EPE 0.6 mm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890148" y="221487"/>
            <a:ext cx="182197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Full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43653" y="1037950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0.1 mm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118169" y="1037950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0.7 mm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292685" y="1037950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3.8 mm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467200" y="1037950"/>
            <a:ext cx="29371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3.5 mm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87522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441651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099901" y="2534896"/>
            <a:ext cx="715597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Acquisition time (s)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92943" y="2223638"/>
            <a:ext cx="117109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43532" y="1910651"/>
            <a:ext cx="16652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70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37" name="TextBox 36"/>
          <p:cNvSpPr txBox="1"/>
          <p:nvPr/>
        </p:nvSpPr>
        <p:spPr>
          <a:xfrm rot="16200000">
            <a:off x="187440" y="2091359"/>
            <a:ext cx="728098" cy="127000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800" b="0" i="0">
                <a:solidFill>
                  <a:srgbClr val="000000"/>
                </a:solidFill>
                <a:latin typeface="Arial"/>
              </a:rPr>
              <a:t>LV volume (mL)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943653" y="2292371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17%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062038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2616167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118169" y="2292371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30%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236554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3790683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292685" y="2292371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60%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411070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965198" y="2448774"/>
            <a:ext cx="124452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0.5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467200" y="2292371"/>
            <a:ext cx="311975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50" b="0" i="0">
                <a:solidFill>
                  <a:srgbClr val="000000"/>
                </a:solidFill>
                <a:latin typeface="Arial"/>
              </a:rPr>
              <a:t>EF 60%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34950" y="534849"/>
            <a:ext cx="1579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(a)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228600" y="1368274"/>
            <a:ext cx="164337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(b)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234950" y="2070126"/>
            <a:ext cx="157988" cy="14287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900" b="1" i="0">
                <a:solidFill>
                  <a:srgbClr val="000000"/>
                </a:solidFill>
                <a:latin typeface="Arial"/>
              </a:rPr>
              <a:t>(c)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2389310" y="2574663"/>
            <a:ext cx="517556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Ground truth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3288629" y="2574663"/>
            <a:ext cx="393930" cy="111125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700" b="0" i="0">
                <a:solidFill>
                  <a:srgbClr val="000000"/>
                </a:solidFill>
                <a:latin typeface="Arial"/>
              </a:rPr>
              <a:t>Predicted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real_rt_ax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7491" y="246888"/>
            <a:ext cx="339852" cy="350520"/>
          </a:xfrm>
          <a:prstGeom prst="rect">
            <a:avLst/>
          </a:prstGeom>
        </p:spPr>
      </p:pic>
      <p:pic>
        <p:nvPicPr>
          <p:cNvPr id="3" name="Picture 2" descr="real_rt_ax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7491" y="614172"/>
            <a:ext cx="339852" cy="350520"/>
          </a:xfrm>
          <a:prstGeom prst="rect">
            <a:avLst/>
          </a:prstGeom>
        </p:spPr>
      </p:pic>
      <p:pic>
        <p:nvPicPr>
          <p:cNvPr id="4" name="Picture 3" descr="real_rt_ax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58240" y="242316"/>
            <a:ext cx="1557528" cy="768096"/>
          </a:xfrm>
          <a:prstGeom prst="rect">
            <a:avLst/>
          </a:prstGeom>
        </p:spPr>
      </p:pic>
      <p:pic>
        <p:nvPicPr>
          <p:cNvPr id="5" name="Picture 4" descr="real_rt_ax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1" y="1019556"/>
            <a:ext cx="367284" cy="350520"/>
          </a:xfrm>
          <a:prstGeom prst="rect">
            <a:avLst/>
          </a:prstGeom>
        </p:spPr>
      </p:pic>
      <p:pic>
        <p:nvPicPr>
          <p:cNvPr id="6" name="Picture 5" descr="real_rt_ax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7491" y="1386840"/>
            <a:ext cx="367284" cy="350520"/>
          </a:xfrm>
          <a:prstGeom prst="rect">
            <a:avLst/>
          </a:prstGeom>
        </p:spPr>
      </p:pic>
      <p:pic>
        <p:nvPicPr>
          <p:cNvPr id="7" name="Picture 6" descr="real_rt_ax5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58240" y="1014983"/>
            <a:ext cx="1557528" cy="768096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 rot="16200000">
            <a:off x="331688" y="370173"/>
            <a:ext cx="22902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Naive</a:t>
            </a:r>
          </a:p>
        </p:txBody>
      </p:sp>
      <p:sp>
        <p:nvSpPr>
          <p:cNvPr id="9" name="TextBox 8"/>
          <p:cNvSpPr txBox="1"/>
          <p:nvPr/>
        </p:nvSpPr>
        <p:spPr>
          <a:xfrm rot="16200000">
            <a:off x="347563" y="738219"/>
            <a:ext cx="19727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43580" y="912091"/>
            <a:ext cx="103219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75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1114" y="694260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1114" y="476429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125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1114" y="258597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150</a:t>
            </a:r>
          </a:p>
        </p:txBody>
      </p:sp>
      <p:sp>
        <p:nvSpPr>
          <p:cNvPr id="14" name="TextBox 13"/>
          <p:cNvSpPr txBox="1"/>
          <p:nvPr/>
        </p:nvSpPr>
        <p:spPr>
          <a:xfrm rot="16200000">
            <a:off x="728477" y="554196"/>
            <a:ext cx="457231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LV vol. (mL)</a:t>
            </a:r>
          </a:p>
        </p:txBody>
      </p:sp>
      <p:sp>
        <p:nvSpPr>
          <p:cNvPr id="15" name="TextBox 14"/>
          <p:cNvSpPr txBox="1"/>
          <p:nvPr/>
        </p:nvSpPr>
        <p:spPr>
          <a:xfrm rot="16200000">
            <a:off x="331688" y="1142841"/>
            <a:ext cx="22902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Naive</a:t>
            </a:r>
          </a:p>
        </p:txBody>
      </p:sp>
      <p:sp>
        <p:nvSpPr>
          <p:cNvPr id="16" name="TextBox 15"/>
          <p:cNvSpPr txBox="1"/>
          <p:nvPr/>
        </p:nvSpPr>
        <p:spPr>
          <a:xfrm rot="16200000">
            <a:off x="347563" y="1510887"/>
            <a:ext cx="19727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73572" y="1772880"/>
            <a:ext cx="60753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08522" y="1772880"/>
            <a:ext cx="60753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843472" y="1772880"/>
            <a:ext cx="60753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2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178422" y="1772880"/>
            <a:ext cx="60753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513372" y="1772880"/>
            <a:ext cx="60753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00" b="0" i="0">
                <a:solidFill>
                  <a:srgbClr val="1A1A1A"/>
                </a:solidFill>
                <a:latin typeface="Arial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98622" y="1859002"/>
            <a:ext cx="317928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Time (s)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43580" y="1664832"/>
            <a:ext cx="103219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50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01114" y="1441987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100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01114" y="1219143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150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01114" y="996298"/>
            <a:ext cx="1456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r"/>
            <a:r>
              <a:rPr sz="600" b="0" i="0">
                <a:solidFill>
                  <a:srgbClr val="1A1A1A"/>
                </a:solidFill>
                <a:latin typeface="Arial"/>
              </a:rPr>
              <a:t>200</a:t>
            </a:r>
          </a:p>
        </p:txBody>
      </p:sp>
      <p:sp>
        <p:nvSpPr>
          <p:cNvPr id="27" name="TextBox 26"/>
          <p:cNvSpPr txBox="1"/>
          <p:nvPr/>
        </p:nvSpPr>
        <p:spPr>
          <a:xfrm rot="16200000">
            <a:off x="728477" y="1326864"/>
            <a:ext cx="457231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0" i="0">
                <a:solidFill>
                  <a:srgbClr val="000000"/>
                </a:solidFill>
                <a:latin typeface="Arial"/>
              </a:rPr>
              <a:t>LV vol. (mL)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915608" y="1607978"/>
            <a:ext cx="412384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Naive stack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507825" y="1607978"/>
            <a:ext cx="183586" cy="95249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l"/>
            <a:r>
              <a:rPr sz="600" b="0" i="0">
                <a:solidFill>
                  <a:srgbClr val="000000"/>
                </a:solidFill>
                <a:latin typeface="Arial"/>
              </a:rPr>
              <a:t>Ours</a:t>
            </a:r>
          </a:p>
        </p:txBody>
      </p:sp>
      <p:sp>
        <p:nvSpPr>
          <p:cNvPr id="30" name="TextBox 29"/>
          <p:cNvSpPr txBox="1"/>
          <p:nvPr/>
        </p:nvSpPr>
        <p:spPr>
          <a:xfrm rot="16200000">
            <a:off x="-75787" y="554196"/>
            <a:ext cx="710834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1" i="0">
                <a:solidFill>
                  <a:srgbClr val="000000"/>
                </a:solidFill>
                <a:latin typeface="Arial"/>
              </a:rPr>
              <a:t>Healthy volunteer</a:t>
            </a:r>
          </a:p>
        </p:txBody>
      </p:sp>
      <p:sp>
        <p:nvSpPr>
          <p:cNvPr id="31" name="TextBox 30"/>
          <p:cNvSpPr txBox="1"/>
          <p:nvPr/>
        </p:nvSpPr>
        <p:spPr>
          <a:xfrm rot="16200000">
            <a:off x="69270" y="1326864"/>
            <a:ext cx="421909" cy="103187"/>
          </a:xfrm>
          <a:prstGeom prst="rect">
            <a:avLst/>
          </a:prstGeom>
          <a:noFill/>
        </p:spPr>
        <p:txBody>
          <a:bodyPr wrap="none" lIns="0" rIns="0" tIns="0" bIns="0" anchor="t">
            <a:noAutofit/>
          </a:bodyPr>
          <a:lstStyle/>
          <a:p>
            <a:pPr algn="ctr"/>
            <a:r>
              <a:rPr sz="650" b="1" i="0">
                <a:solidFill>
                  <a:srgbClr val="000000"/>
                </a:solidFill>
                <a:latin typeface="Arial"/>
              </a:rPr>
              <a:t>AF patient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