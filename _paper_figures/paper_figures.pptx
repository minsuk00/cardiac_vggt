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940290" cy="543399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reference_conditioning: rendered by _paper_figures/render_motion_edes.py (see _paper_figures/README.md). Text = native text boxes; each panel = its own PNG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runtime_vtc_af_hrv: rendered by _paper_figures/render_vtc_2x2.py (see _paper_figures/README.md). Text = native text boxes; each panel = its own PNG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ablation_motion: rendered by _paper_figures/render_ablation_motion.py (see _paper_figures/README.md). Text = native text boxes; each panel = its own PNG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real_rt: rendered by _paper_figures/make_rt_figure.py (see _paper_figures/README.md). Text = native text boxes; each panel = its own PNG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ference_conditioning_ax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466344"/>
            <a:ext cx="829056" cy="830580"/>
          </a:xfrm>
          <a:prstGeom prst="rect">
            <a:avLst/>
          </a:prstGeom>
        </p:spPr>
      </p:pic>
      <p:pic>
        <p:nvPicPr>
          <p:cNvPr id="3" name="Picture 2" descr="reference_conditioning_ax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087" y="466344"/>
            <a:ext cx="829056" cy="830580"/>
          </a:xfrm>
          <a:prstGeom prst="rect">
            <a:avLst/>
          </a:prstGeom>
        </p:spPr>
      </p:pic>
      <p:pic>
        <p:nvPicPr>
          <p:cNvPr id="4" name="Picture 3" descr="reference_conditioning_ax1_inset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1027176"/>
            <a:ext cx="262128" cy="263652"/>
          </a:xfrm>
          <a:prstGeom prst="rect">
            <a:avLst/>
          </a:prstGeom>
        </p:spPr>
      </p:pic>
      <p:pic>
        <p:nvPicPr>
          <p:cNvPr id="5" name="Picture 4" descr="reference_conditioning_ax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3288" y="466344"/>
            <a:ext cx="829056" cy="830580"/>
          </a:xfrm>
          <a:prstGeom prst="rect">
            <a:avLst/>
          </a:prstGeom>
        </p:spPr>
      </p:pic>
      <p:pic>
        <p:nvPicPr>
          <p:cNvPr id="6" name="Picture 5" descr="reference_conditioning_ax2_inset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4120" y="1027176"/>
            <a:ext cx="262128" cy="263652"/>
          </a:xfrm>
          <a:prstGeom prst="rect">
            <a:avLst/>
          </a:prstGeom>
        </p:spPr>
      </p:pic>
      <p:pic>
        <p:nvPicPr>
          <p:cNvPr id="7" name="Picture 6" descr="reference_conditioning_ax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1488" y="466344"/>
            <a:ext cx="829056" cy="830580"/>
          </a:xfrm>
          <a:prstGeom prst="rect">
            <a:avLst/>
          </a:prstGeom>
        </p:spPr>
      </p:pic>
      <p:pic>
        <p:nvPicPr>
          <p:cNvPr id="8" name="Picture 7" descr="reference_conditioning_ax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9688" y="466344"/>
            <a:ext cx="829056" cy="830580"/>
          </a:xfrm>
          <a:prstGeom prst="rect">
            <a:avLst/>
          </a:prstGeom>
        </p:spPr>
      </p:pic>
      <p:pic>
        <p:nvPicPr>
          <p:cNvPr id="9" name="Picture 8" descr="reference_conditioning_ax4_inset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0520" y="1027176"/>
            <a:ext cx="262128" cy="263652"/>
          </a:xfrm>
          <a:prstGeom prst="rect">
            <a:avLst/>
          </a:prstGeom>
        </p:spPr>
      </p:pic>
      <p:pic>
        <p:nvPicPr>
          <p:cNvPr id="10" name="Picture 9" descr="reference_conditioning_ax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7888" y="466344"/>
            <a:ext cx="829056" cy="830580"/>
          </a:xfrm>
          <a:prstGeom prst="rect">
            <a:avLst/>
          </a:prstGeom>
        </p:spPr>
      </p:pic>
      <p:pic>
        <p:nvPicPr>
          <p:cNvPr id="11" name="Picture 10" descr="reference_conditioning_ax5_inset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98720" y="1027176"/>
            <a:ext cx="262128" cy="263652"/>
          </a:xfrm>
          <a:prstGeom prst="rect">
            <a:avLst/>
          </a:prstGeom>
        </p:spPr>
      </p:pic>
      <p:pic>
        <p:nvPicPr>
          <p:cNvPr id="12" name="Picture 11" descr="reference_conditioning_figur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2608" y="350520"/>
            <a:ext cx="4928616" cy="91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3350" y="352309"/>
            <a:ext cx="216130" cy="111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2551" y="352309"/>
            <a:ext cx="394128" cy="111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ED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3232" y="352309"/>
            <a:ext cx="389167" cy="111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ES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7950" y="352309"/>
            <a:ext cx="216130" cy="111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7151" y="352309"/>
            <a:ext cx="394128" cy="111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ED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7832" y="352309"/>
            <a:ext cx="389167" cy="111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ES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2705" y="218114"/>
            <a:ext cx="153820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AF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8511" y="218114"/>
            <a:ext cx="231409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HRV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untime_vtc_af_hrv_ax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92" y="627888"/>
            <a:ext cx="1594104" cy="1650492"/>
          </a:xfrm>
          <a:prstGeom prst="rect">
            <a:avLst/>
          </a:prstGeom>
        </p:spPr>
      </p:pic>
      <p:pic>
        <p:nvPicPr>
          <p:cNvPr id="3" name="Picture 2" descr="runtime_vtc_af_hrv_ax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0464" y="627888"/>
            <a:ext cx="1594104" cy="1650492"/>
          </a:xfrm>
          <a:prstGeom prst="rect">
            <a:avLst/>
          </a:prstGeom>
        </p:spPr>
      </p:pic>
      <p:pic>
        <p:nvPicPr>
          <p:cNvPr id="4" name="Picture 3" descr="runtime_vtc_af_hrv_ax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8468" y="627888"/>
            <a:ext cx="1595628" cy="1650492"/>
          </a:xfrm>
          <a:prstGeom prst="rect">
            <a:avLst/>
          </a:prstGeom>
        </p:spPr>
      </p:pic>
      <p:pic>
        <p:nvPicPr>
          <p:cNvPr id="5" name="Picture 4" descr="runtime_vtc_af_hrv_ax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940" y="627888"/>
            <a:ext cx="1595628" cy="1650492"/>
          </a:xfrm>
          <a:prstGeom prst="rect">
            <a:avLst/>
          </a:prstGeom>
        </p:spPr>
      </p:pic>
      <p:pic>
        <p:nvPicPr>
          <p:cNvPr id="6" name="Picture 5" descr="runtime_vtc_af_hrv_fig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" y="330708"/>
            <a:ext cx="7580375" cy="91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4589" y="228003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0.1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46" y="2280037"/>
            <a:ext cx="107386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5681" y="2280037"/>
            <a:ext cx="1964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0516" y="2280037"/>
            <a:ext cx="28558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350" y="2280037"/>
            <a:ext cx="374681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1000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4335" y="2470101"/>
            <a:ext cx="961659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40" b="0" i="0">
                <a:solidFill>
                  <a:srgbClr val="000000"/>
                </a:solidFill>
                <a:latin typeface="Arial"/>
              </a:rPr>
              <a:t>Runtime (s)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298" y="2132003"/>
            <a:ext cx="107386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298" y="1811894"/>
            <a:ext cx="107386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491785"/>
            <a:ext cx="1964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171676"/>
            <a:ext cx="1964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851567"/>
            <a:ext cx="1964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1458"/>
            <a:ext cx="1964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25</a:t>
            </a:r>
          </a:p>
        </p:txBody>
      </p:sp>
      <p:sp>
        <p:nvSpPr>
          <p:cNvPr id="19" name="TextBox 18"/>
          <p:cNvSpPr txBox="1"/>
          <p:nvPr/>
        </p:nvSpPr>
        <p:spPr>
          <a:xfrm rot="16200000">
            <a:off x="-135636" y="1318316"/>
            <a:ext cx="907288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40" b="0" i="0">
                <a:solidFill>
                  <a:srgbClr val="000000"/>
                </a:solidFill>
                <a:latin typeface="Arial"/>
              </a:rPr>
              <a:t>VTC err. </a:t>
            </a:r>
            <a:r>
              <a:rPr sz="1440" b="0" i="0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74548" y="228003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0.0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3580" y="228003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0.2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2612" y="228003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0.4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1645" y="228003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0.6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0677" y="228003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0.8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9709" y="228003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87423" y="2470101"/>
            <a:ext cx="1560544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40" b="0" i="0">
                <a:solidFill>
                  <a:srgbClr val="000000"/>
                </a:solidFill>
                <a:latin typeface="Arial"/>
              </a:rPr>
              <a:t>Acquisition time (s)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09730" y="1963108"/>
            <a:ext cx="1964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9730" y="1595307"/>
            <a:ext cx="1964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20631" y="1227507"/>
            <a:ext cx="28558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20631" y="859707"/>
            <a:ext cx="28558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125</a:t>
            </a:r>
          </a:p>
        </p:txBody>
      </p:sp>
      <p:sp>
        <p:nvSpPr>
          <p:cNvPr id="31" name="TextBox 30"/>
          <p:cNvSpPr txBox="1"/>
          <p:nvPr/>
        </p:nvSpPr>
        <p:spPr>
          <a:xfrm rot="16200000">
            <a:off x="1835708" y="1318316"/>
            <a:ext cx="1292653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40" b="0" i="0">
                <a:solidFill>
                  <a:srgbClr val="000000"/>
                </a:solidFill>
                <a:latin typeface="Arial"/>
              </a:rPr>
              <a:t>LV volume (mL)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6260" y="2713193"/>
            <a:ext cx="1926066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40" b="0" i="0">
                <a:solidFill>
                  <a:srgbClr val="000000"/>
                </a:solidFill>
                <a:latin typeface="Arial"/>
              </a:rPr>
              <a:t>(a) Atrial fibrillation (AF)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46132" y="228003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0.1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52389" y="2280037"/>
            <a:ext cx="107386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7224" y="2280037"/>
            <a:ext cx="1964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059" y="2280037"/>
            <a:ext cx="28558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6893" y="2280037"/>
            <a:ext cx="374681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1000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05878" y="2470101"/>
            <a:ext cx="961659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40" b="0" i="0">
                <a:solidFill>
                  <a:srgbClr val="000000"/>
                </a:solidFill>
                <a:latin typeface="Arial"/>
              </a:rPr>
              <a:t>Runtime (s)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17841" y="2132003"/>
            <a:ext cx="107386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17841" y="1811894"/>
            <a:ext cx="107386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8742" y="1491785"/>
            <a:ext cx="1964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8742" y="1171676"/>
            <a:ext cx="1964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8742" y="851567"/>
            <a:ext cx="1964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8742" y="531458"/>
            <a:ext cx="1964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25</a:t>
            </a:r>
          </a:p>
        </p:txBody>
      </p:sp>
      <p:sp>
        <p:nvSpPr>
          <p:cNvPr id="45" name="TextBox 44"/>
          <p:cNvSpPr txBox="1"/>
          <p:nvPr/>
        </p:nvSpPr>
        <p:spPr>
          <a:xfrm rot="16200000">
            <a:off x="4435906" y="1318316"/>
            <a:ext cx="907288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40" b="0" i="0">
                <a:solidFill>
                  <a:srgbClr val="000000"/>
                </a:solidFill>
                <a:latin typeface="Arial"/>
              </a:rPr>
              <a:t>VTC err. </a:t>
            </a:r>
            <a:r>
              <a:rPr sz="1440" b="0" i="0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46091" y="228003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0.0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55123" y="228003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0.2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64155" y="228003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0.4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73188" y="228003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0.6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2220" y="228003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0.8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91252" y="228003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1.0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58966" y="2470101"/>
            <a:ext cx="1560544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40" b="0" i="0">
                <a:solidFill>
                  <a:srgbClr val="000000"/>
                </a:solidFill>
                <a:latin typeface="Arial"/>
              </a:rPr>
              <a:t>Acquisition time (s)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81272" y="1949618"/>
            <a:ext cx="1964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81272" y="1585283"/>
            <a:ext cx="1964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75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92174" y="1220949"/>
            <a:ext cx="28558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100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92174" y="856614"/>
            <a:ext cx="28558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125</a:t>
            </a:r>
          </a:p>
        </p:txBody>
      </p:sp>
      <p:sp>
        <p:nvSpPr>
          <p:cNvPr id="57" name="TextBox 56"/>
          <p:cNvSpPr txBox="1"/>
          <p:nvPr/>
        </p:nvSpPr>
        <p:spPr>
          <a:xfrm rot="16200000">
            <a:off x="6407251" y="1318316"/>
            <a:ext cx="1292653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40" b="0" i="0">
                <a:solidFill>
                  <a:srgbClr val="000000"/>
                </a:solidFill>
                <a:latin typeface="Arial"/>
              </a:rPr>
              <a:t>LV volume (mL)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85745" y="2713193"/>
            <a:ext cx="2470181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40" b="0" i="0">
                <a:solidFill>
                  <a:srgbClr val="000000"/>
                </a:solidFill>
                <a:latin typeface="Arial"/>
              </a:rPr>
              <a:t>(b) Heart rate variability (HRV)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6609" y="279773"/>
            <a:ext cx="225456" cy="1857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70" b="0" i="0">
                <a:solidFill>
                  <a:srgbClr val="000000"/>
                </a:solidFill>
                <a:latin typeface="Arial"/>
              </a:rPr>
              <a:t>GT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79548" y="279773"/>
            <a:ext cx="366545" cy="1857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70" b="1" i="0">
                <a:solidFill>
                  <a:srgbClr val="000000"/>
                </a:solidFill>
                <a:latin typeface="Arial"/>
              </a:rPr>
              <a:t>Ours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73575" y="279773"/>
            <a:ext cx="665988" cy="1857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70" b="0" i="0">
                <a:solidFill>
                  <a:srgbClr val="000000"/>
                </a:solidFill>
                <a:latin typeface="Arial"/>
              </a:rPr>
              <a:t>CiNeVol</a:t>
            </a:r>
            <a:r>
              <a:rPr sz="1170" b="0" i="0" baseline="30000">
                <a:solidFill>
                  <a:srgbClr val="000000"/>
                </a:solidFill>
                <a:latin typeface="Arial"/>
              </a:rPr>
              <a:t>†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67045" y="279773"/>
            <a:ext cx="1059688" cy="1857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70" b="0" i="0">
                <a:solidFill>
                  <a:srgbClr val="000000"/>
                </a:solidFill>
                <a:latin typeface="Arial"/>
              </a:rPr>
              <a:t>Fetal CMR 4D</a:t>
            </a:r>
            <a:r>
              <a:rPr sz="1170" b="0" i="0" baseline="30000">
                <a:solidFill>
                  <a:srgbClr val="000000"/>
                </a:solidFill>
                <a:latin typeface="Arial"/>
              </a:rPr>
              <a:t>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54215" y="279773"/>
            <a:ext cx="772945" cy="1857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70" b="0" i="0">
                <a:solidFill>
                  <a:srgbClr val="000000"/>
                </a:solidFill>
                <a:latin typeface="Arial"/>
              </a:rPr>
              <a:t>Dangi et al.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54643" y="279773"/>
            <a:ext cx="590978" cy="1857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70" b="0" i="0">
                <a:solidFill>
                  <a:srgbClr val="000000"/>
                </a:solidFill>
                <a:latin typeface="Arial"/>
              </a:rPr>
              <a:t>NeSVoR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73104" y="279773"/>
            <a:ext cx="590184" cy="1857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70" b="0" i="0">
                <a:solidFill>
                  <a:srgbClr val="000000"/>
                </a:solidFill>
                <a:latin typeface="Arial"/>
              </a:rPr>
              <a:t>NiftyMIC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90771" y="279773"/>
            <a:ext cx="512794" cy="1857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70" b="0" i="0">
                <a:solidFill>
                  <a:srgbClr val="000000"/>
                </a:solidFill>
                <a:latin typeface="Arial"/>
              </a:rPr>
              <a:t>SVRTK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blation_motion_ax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356616"/>
            <a:ext cx="1167384" cy="758952"/>
          </a:xfrm>
          <a:prstGeom prst="rect">
            <a:avLst/>
          </a:prstGeom>
        </p:spPr>
      </p:pic>
      <p:pic>
        <p:nvPicPr>
          <p:cNvPr id="3" name="Picture 2" descr="ablation_motion_ax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444" y="356616"/>
            <a:ext cx="1167384" cy="758952"/>
          </a:xfrm>
          <a:prstGeom prst="rect">
            <a:avLst/>
          </a:prstGeom>
        </p:spPr>
      </p:pic>
      <p:pic>
        <p:nvPicPr>
          <p:cNvPr id="4" name="Picture 3" descr="ablation_motion_ax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448" y="356616"/>
            <a:ext cx="1165860" cy="758952"/>
          </a:xfrm>
          <a:prstGeom prst="rect">
            <a:avLst/>
          </a:prstGeom>
        </p:spPr>
      </p:pic>
      <p:pic>
        <p:nvPicPr>
          <p:cNvPr id="5" name="Picture 4" descr="ablation_motion_ax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6928" y="356616"/>
            <a:ext cx="1167384" cy="758952"/>
          </a:xfrm>
          <a:prstGeom prst="rect">
            <a:avLst/>
          </a:prstGeom>
        </p:spPr>
      </p:pic>
      <p:pic>
        <p:nvPicPr>
          <p:cNvPr id="6" name="Picture 5" descr="ablation_motion_ax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636" y="1257300"/>
            <a:ext cx="1120140" cy="938784"/>
          </a:xfrm>
          <a:prstGeom prst="rect">
            <a:avLst/>
          </a:prstGeom>
        </p:spPr>
      </p:pic>
      <p:pic>
        <p:nvPicPr>
          <p:cNvPr id="7" name="Picture 6" descr="ablation_motion_ax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2640" y="1257300"/>
            <a:ext cx="1118616" cy="938784"/>
          </a:xfrm>
          <a:prstGeom prst="rect">
            <a:avLst/>
          </a:prstGeom>
        </p:spPr>
      </p:pic>
      <p:pic>
        <p:nvPicPr>
          <p:cNvPr id="8" name="Picture 7" descr="ablation_motion_ax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7644" y="1257300"/>
            <a:ext cx="1118616" cy="938784"/>
          </a:xfrm>
          <a:prstGeom prst="rect">
            <a:avLst/>
          </a:prstGeom>
        </p:spPr>
      </p:pic>
      <p:pic>
        <p:nvPicPr>
          <p:cNvPr id="9" name="Picture 8" descr="ablation_motion_ax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1124" y="1257300"/>
            <a:ext cx="1120140" cy="938784"/>
          </a:xfrm>
          <a:prstGeom prst="rect">
            <a:avLst/>
          </a:prstGeom>
        </p:spPr>
      </p:pic>
      <p:pic>
        <p:nvPicPr>
          <p:cNvPr id="10" name="Picture 9" descr="ablation_motion_ax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3440" y="2206752"/>
            <a:ext cx="1167384" cy="800100"/>
          </a:xfrm>
          <a:prstGeom prst="rect">
            <a:avLst/>
          </a:prstGeom>
        </p:spPr>
      </p:pic>
      <p:pic>
        <p:nvPicPr>
          <p:cNvPr id="11" name="Picture 10" descr="ablation_motion_ax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28444" y="2206752"/>
            <a:ext cx="1167384" cy="800100"/>
          </a:xfrm>
          <a:prstGeom prst="rect">
            <a:avLst/>
          </a:prstGeom>
        </p:spPr>
      </p:pic>
      <p:pic>
        <p:nvPicPr>
          <p:cNvPr id="12" name="Picture 11" descr="ablation_motion_ax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03448" y="2206752"/>
            <a:ext cx="1165860" cy="800100"/>
          </a:xfrm>
          <a:prstGeom prst="rect">
            <a:avLst/>
          </a:prstGeom>
        </p:spPr>
      </p:pic>
      <p:pic>
        <p:nvPicPr>
          <p:cNvPr id="13" name="Picture 12" descr="ablation_motion_ax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76928" y="2206752"/>
            <a:ext cx="1167384" cy="800100"/>
          </a:xfrm>
          <a:prstGeom prst="rect">
            <a:avLst/>
          </a:prstGeom>
        </p:spPr>
      </p:pic>
      <p:pic>
        <p:nvPicPr>
          <p:cNvPr id="14" name="Picture 13" descr="ablation_motion_figur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21408" y="3150108"/>
            <a:ext cx="1106424" cy="60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92956" y="1117705"/>
            <a:ext cx="729488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slice (apex</a:t>
            </a:r>
            <a:r>
              <a:rPr sz="650" b="0" i="0">
                <a:solidFill>
                  <a:srgbClr val="000000"/>
                </a:solidFill>
                <a:latin typeface="Arial"/>
              </a:rPr>
              <a:t>→</a:t>
            </a:r>
            <a:r>
              <a:rPr sz="650" b="0" i="0">
                <a:solidFill>
                  <a:srgbClr val="000000"/>
                </a:solidFill>
                <a:latin typeface="Arial"/>
              </a:rPr>
              <a:t>base)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354" y="1020686"/>
            <a:ext cx="67698" cy="111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700" b="0" i="0">
                <a:solidFill>
                  <a:srgbClr val="1A1A1A"/>
                </a:solidFill>
                <a:latin typeface="Arial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354" y="676191"/>
            <a:ext cx="67698" cy="111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700" b="0" i="0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943" y="331696"/>
            <a:ext cx="117109" cy="111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700" b="0" i="0">
                <a:solidFill>
                  <a:srgbClr val="1A1A1A"/>
                </a:solidFill>
                <a:latin typeface="Arial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 rot="16200000">
            <a:off x="169580" y="672771"/>
            <a:ext cx="763817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Resp. shift (mm)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53" y="372343"/>
            <a:ext cx="482234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EPE 0.6 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338" y="221487"/>
            <a:ext cx="1080722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w/o cardiac-region term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18169" y="372343"/>
            <a:ext cx="482234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EPE 2.4 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38921" y="221487"/>
            <a:ext cx="386588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w/o </a:t>
            </a:r>
            <a:r>
              <a:rPr sz="800" b="0" i="0">
                <a:solidFill>
                  <a:srgbClr val="000000"/>
                </a:solidFill>
                <a:latin typeface="Cambria Math"/>
              </a:rPr>
              <a:t>ℒ</a:t>
            </a:r>
            <a:r>
              <a:rPr sz="800" b="0" i="0" baseline="-25000">
                <a:solidFill>
                  <a:srgbClr val="000000"/>
                </a:solidFill>
                <a:latin typeface="Arial"/>
              </a:rPr>
              <a:t>obs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2685" y="372343"/>
            <a:ext cx="482234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EPE 0.8 mm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2637" y="221487"/>
            <a:ext cx="488188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w/o </a:t>
            </a:r>
            <a:r>
              <a:rPr sz="800" b="0" i="0">
                <a:solidFill>
                  <a:srgbClr val="000000"/>
                </a:solidFill>
                <a:latin typeface="Cambria Math"/>
              </a:rPr>
              <a:t>ℒ</a:t>
            </a:r>
            <a:r>
              <a:rPr sz="800" b="0" i="0" baseline="-25000">
                <a:solidFill>
                  <a:srgbClr val="000000"/>
                </a:solidFill>
                <a:latin typeface="Arial"/>
              </a:rPr>
              <a:t>smooth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7200" y="372343"/>
            <a:ext cx="482234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EPE 0.6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0148" y="221487"/>
            <a:ext cx="182197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Full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653" y="1277129"/>
            <a:ext cx="293719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  <a:latin typeface="Arial"/>
              </a:rPr>
              <a:t>0.1 mm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18169" y="1277129"/>
            <a:ext cx="293719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  <a:latin typeface="Arial"/>
              </a:rPr>
              <a:t>0.7 mm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2685" y="1277129"/>
            <a:ext cx="293719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  <a:latin typeface="Arial"/>
              </a:rPr>
              <a:t>3.8 mm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7200" y="1277129"/>
            <a:ext cx="293719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  <a:latin typeface="Arial"/>
              </a:rPr>
              <a:t>3.5 mm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522" y="2997414"/>
            <a:ext cx="124452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 i="0">
                <a:solidFill>
                  <a:srgbClr val="1A1A1A"/>
                </a:solidFill>
                <a:latin typeface="Arial"/>
              </a:rPr>
              <a:t>0.0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1651" y="2997414"/>
            <a:ext cx="124452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 i="0">
                <a:solidFill>
                  <a:srgbClr val="1A1A1A"/>
                </a:solidFill>
                <a:latin typeface="Arial"/>
              </a:rPr>
              <a:t>0.5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9901" y="3083536"/>
            <a:ext cx="715597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Acquisition time (s)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943" y="2712412"/>
            <a:ext cx="117109" cy="111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700" b="0" i="0">
                <a:solidFill>
                  <a:srgbClr val="1A1A1A"/>
                </a:solidFill>
                <a:latin typeface="Arial"/>
              </a:rPr>
              <a:t>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943" y="2485247"/>
            <a:ext cx="117109" cy="111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700" b="0" i="0">
                <a:solidFill>
                  <a:srgbClr val="1A1A1A"/>
                </a:solidFill>
                <a:latin typeface="Arial"/>
              </a:rPr>
              <a:t>75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532" y="2258082"/>
            <a:ext cx="166520" cy="111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700" b="0" i="0">
                <a:solidFill>
                  <a:srgbClr val="1A1A1A"/>
                </a:solidFill>
                <a:latin typeface="Arial"/>
              </a:rPr>
              <a:t>100</a:t>
            </a:r>
          </a:p>
        </p:txBody>
      </p:sp>
      <p:sp>
        <p:nvSpPr>
          <p:cNvPr id="38" name="TextBox 37"/>
          <p:cNvSpPr txBox="1"/>
          <p:nvPr/>
        </p:nvSpPr>
        <p:spPr>
          <a:xfrm rot="16200000">
            <a:off x="187440" y="2523310"/>
            <a:ext cx="728098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LV volume (mL)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3653" y="2831676"/>
            <a:ext cx="311975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EF 17%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62038" y="2997414"/>
            <a:ext cx="124452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 i="0">
                <a:solidFill>
                  <a:srgbClr val="1A1A1A"/>
                </a:solidFill>
                <a:latin typeface="Arial"/>
              </a:rPr>
              <a:t>0.0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16167" y="2997414"/>
            <a:ext cx="124452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 i="0">
                <a:solidFill>
                  <a:srgbClr val="1A1A1A"/>
                </a:solidFill>
                <a:latin typeface="Arial"/>
              </a:rPr>
              <a:t>0.5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18169" y="2831676"/>
            <a:ext cx="311975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EF 30%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36554" y="2997414"/>
            <a:ext cx="124452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 i="0">
                <a:solidFill>
                  <a:srgbClr val="1A1A1A"/>
                </a:solidFill>
                <a:latin typeface="Arial"/>
              </a:rPr>
              <a:t>0.0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0683" y="2997414"/>
            <a:ext cx="124452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 i="0">
                <a:solidFill>
                  <a:srgbClr val="1A1A1A"/>
                </a:solidFill>
                <a:latin typeface="Arial"/>
              </a:rPr>
              <a:t>0.5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2685" y="2831676"/>
            <a:ext cx="311975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EF 60%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11070" y="2997414"/>
            <a:ext cx="124452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 i="0">
                <a:solidFill>
                  <a:srgbClr val="1A1A1A"/>
                </a:solidFill>
                <a:latin typeface="Arial"/>
              </a:rPr>
              <a:t>0.0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65198" y="2997414"/>
            <a:ext cx="124452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 i="0">
                <a:solidFill>
                  <a:srgbClr val="1A1A1A"/>
                </a:solidFill>
                <a:latin typeface="Arial"/>
              </a:rPr>
              <a:t>0.5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67200" y="2831676"/>
            <a:ext cx="311975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EF 60%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4950" y="651538"/>
            <a:ext cx="15798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Arial"/>
              </a:rPr>
              <a:t>(a)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" y="1642594"/>
            <a:ext cx="16433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Arial"/>
              </a:rPr>
              <a:t>(b)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4950" y="2502077"/>
            <a:ext cx="15798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Arial"/>
              </a:rPr>
              <a:t>(c)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89310" y="3123303"/>
            <a:ext cx="517556" cy="111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Ground truth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88629" y="3123303"/>
            <a:ext cx="393930" cy="111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Predicted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al_rt_ax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72" y="684276"/>
            <a:ext cx="928115" cy="955547"/>
          </a:xfrm>
          <a:prstGeom prst="rect">
            <a:avLst/>
          </a:prstGeom>
        </p:spPr>
      </p:pic>
      <p:pic>
        <p:nvPicPr>
          <p:cNvPr id="3" name="Picture 2" descr="real_rt_ax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432" y="684276"/>
            <a:ext cx="926592" cy="955547"/>
          </a:xfrm>
          <a:prstGeom prst="rect">
            <a:avLst/>
          </a:prstGeom>
        </p:spPr>
      </p:pic>
      <p:pic>
        <p:nvPicPr>
          <p:cNvPr id="4" name="Picture 3" descr="real_rt_ax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572" y="1667256"/>
            <a:ext cx="928115" cy="955547"/>
          </a:xfrm>
          <a:prstGeom prst="rect">
            <a:avLst/>
          </a:prstGeom>
        </p:spPr>
      </p:pic>
      <p:pic>
        <p:nvPicPr>
          <p:cNvPr id="5" name="Picture 4" descr="real_rt_ax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2432" y="1667256"/>
            <a:ext cx="926592" cy="955547"/>
          </a:xfrm>
          <a:prstGeom prst="rect">
            <a:avLst/>
          </a:prstGeom>
        </p:spPr>
      </p:pic>
      <p:pic>
        <p:nvPicPr>
          <p:cNvPr id="6" name="Picture 5" descr="real_rt_ax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296" y="530352"/>
            <a:ext cx="6044184" cy="2132076"/>
          </a:xfrm>
          <a:prstGeom prst="rect">
            <a:avLst/>
          </a:prstGeom>
        </p:spPr>
      </p:pic>
      <p:pic>
        <p:nvPicPr>
          <p:cNvPr id="7" name="Picture 6" descr="real_rt_ax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472" y="2842260"/>
            <a:ext cx="1004316" cy="955547"/>
          </a:xfrm>
          <a:prstGeom prst="rect">
            <a:avLst/>
          </a:prstGeom>
        </p:spPr>
      </p:pic>
      <p:pic>
        <p:nvPicPr>
          <p:cNvPr id="8" name="Picture 7" descr="real_rt_ax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94332" y="2842260"/>
            <a:ext cx="1002792" cy="955547"/>
          </a:xfrm>
          <a:prstGeom prst="rect">
            <a:avLst/>
          </a:prstGeom>
        </p:spPr>
      </p:pic>
      <p:pic>
        <p:nvPicPr>
          <p:cNvPr id="9" name="Picture 8" descr="real_rt_ax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472" y="3823716"/>
            <a:ext cx="1004316" cy="955547"/>
          </a:xfrm>
          <a:prstGeom prst="rect">
            <a:avLst/>
          </a:prstGeom>
        </p:spPr>
      </p:pic>
      <p:pic>
        <p:nvPicPr>
          <p:cNvPr id="10" name="Picture 9" descr="real_rt_ax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94332" y="3823716"/>
            <a:ext cx="1002792" cy="955547"/>
          </a:xfrm>
          <a:prstGeom prst="rect">
            <a:avLst/>
          </a:prstGeom>
        </p:spPr>
      </p:pic>
      <p:pic>
        <p:nvPicPr>
          <p:cNvPr id="11" name="Picture 10" descr="real_rt_ax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11296" y="2842260"/>
            <a:ext cx="6044184" cy="19766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 rot="16200000">
            <a:off x="361966" y="1091013"/>
            <a:ext cx="58978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LAX view 1</a:t>
            </a:r>
          </a:p>
        </p:txBody>
      </p:sp>
      <p:sp>
        <p:nvSpPr>
          <p:cNvPr id="13" name="TextBox 12"/>
          <p:cNvSpPr txBox="1"/>
          <p:nvPr/>
        </p:nvSpPr>
        <p:spPr>
          <a:xfrm rot="16200000">
            <a:off x="-75257" y="1555203"/>
            <a:ext cx="1006705" cy="158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Healthy volunteer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44" y="474424"/>
            <a:ext cx="740600" cy="174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Naive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4871" y="474424"/>
            <a:ext cx="321302" cy="174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Ours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361966" y="2073038"/>
            <a:ext cx="58978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LAX view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6108" y="2167916"/>
            <a:ext cx="131397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9553" y="1770387"/>
            <a:ext cx="187952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9553" y="1372857"/>
            <a:ext cx="187952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9553" y="975327"/>
            <a:ext cx="187952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  <p:sp>
        <p:nvSpPr>
          <p:cNvPr id="21" name="TextBox 20"/>
          <p:cNvSpPr txBox="1"/>
          <p:nvPr/>
        </p:nvSpPr>
        <p:spPr>
          <a:xfrm rot="16200000">
            <a:off x="2771768" y="1582026"/>
            <a:ext cx="8168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LV volume (mL)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9782" y="283924"/>
            <a:ext cx="1166447" cy="158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LV volume over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306" y="477043"/>
            <a:ext cx="543552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Naive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1250" y="477043"/>
            <a:ext cx="238553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9196" y="477043"/>
            <a:ext cx="1391277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Ours, reference slice excluded</a:t>
            </a:r>
          </a:p>
        </p:txBody>
      </p:sp>
      <p:sp>
        <p:nvSpPr>
          <p:cNvPr id="26" name="TextBox 25"/>
          <p:cNvSpPr txBox="1"/>
          <p:nvPr/>
        </p:nvSpPr>
        <p:spPr>
          <a:xfrm rot="16200000">
            <a:off x="323832" y="3248445"/>
            <a:ext cx="58978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LAX view 1</a:t>
            </a:r>
          </a:p>
        </p:txBody>
      </p:sp>
      <p:sp>
        <p:nvSpPr>
          <p:cNvPr id="27" name="TextBox 26"/>
          <p:cNvSpPr txBox="1"/>
          <p:nvPr/>
        </p:nvSpPr>
        <p:spPr>
          <a:xfrm rot="16200000">
            <a:off x="64635" y="3712635"/>
            <a:ext cx="597328" cy="158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AF patient</a:t>
            </a:r>
          </a:p>
        </p:txBody>
      </p:sp>
      <p:sp>
        <p:nvSpPr>
          <p:cNvPr id="28" name="TextBox 27"/>
          <p:cNvSpPr txBox="1"/>
          <p:nvPr/>
        </p:nvSpPr>
        <p:spPr>
          <a:xfrm rot="16200000">
            <a:off x="323832" y="4230470"/>
            <a:ext cx="58978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LAX view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6618" y="4834161"/>
            <a:ext cx="159575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42529" y="4834161"/>
            <a:ext cx="159575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8440" y="4834161"/>
            <a:ext cx="159575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74351" y="4834161"/>
            <a:ext cx="159575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0262" y="4834161"/>
            <a:ext cx="159575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6174" y="4834161"/>
            <a:ext cx="159575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2085" y="4834161"/>
            <a:ext cx="159575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7996" y="4834161"/>
            <a:ext cx="159575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3.5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03907" y="4834161"/>
            <a:ext cx="159575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9818" y="4834161"/>
            <a:ext cx="159575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3362" y="4975647"/>
            <a:ext cx="39928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time (s)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6108" y="4471318"/>
            <a:ext cx="131397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79553" y="4204537"/>
            <a:ext cx="187952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79553" y="3937755"/>
            <a:ext cx="187952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79553" y="3670973"/>
            <a:ext cx="187952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79553" y="3404192"/>
            <a:ext cx="187952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79553" y="3137410"/>
            <a:ext cx="187952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79553" y="2870629"/>
            <a:ext cx="187952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47" name="TextBox 46"/>
          <p:cNvSpPr txBox="1"/>
          <p:nvPr/>
        </p:nvSpPr>
        <p:spPr>
          <a:xfrm rot="16200000">
            <a:off x="2771768" y="3739458"/>
            <a:ext cx="81680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LV volume (mL)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